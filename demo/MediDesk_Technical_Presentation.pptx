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92440" y="640080"/>
            <a:ext cx="3337560" cy="53949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9640" y="1325880"/>
            <a:ext cx="2423160" cy="749808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1435607"/>
            <a:ext cx="6400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CDCDE"/>
                </a:solidFill>
                <a:latin typeface="Apto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453895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F"/>
                </a:solidFill>
                <a:latin typeface="Aptos"/>
              </a:rPr>
              <a:t>FastAPI + React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38360" y="2103120"/>
            <a:ext cx="0" cy="356616"/>
          </a:xfrm>
          <a:prstGeom prst="line">
            <a:avLst/>
          </a:prstGeom>
          <a:ln w="19050">
            <a:solidFill>
              <a:srgbClr val="4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49640" y="2587752"/>
            <a:ext cx="2423160" cy="749808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697480"/>
            <a:ext cx="6400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89AFF"/>
                </a:solidFill>
                <a:latin typeface="Aptos"/>
              </a:rPr>
              <a:t>K8S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715768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F"/>
                </a:solidFill>
                <a:latin typeface="Aptos"/>
              </a:rPr>
              <a:t>EKS + Helm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38360" y="3364992"/>
            <a:ext cx="0" cy="356616"/>
          </a:xfrm>
          <a:prstGeom prst="line">
            <a:avLst/>
          </a:prstGeom>
          <a:ln w="1905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3849624"/>
            <a:ext cx="2423160" cy="749808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3959352"/>
            <a:ext cx="6400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8E2A7"/>
                </a:solidFill>
                <a:latin typeface="Aptos"/>
              </a:rPr>
              <a:t>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977639"/>
            <a:ext cx="13258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F"/>
                </a:solidFill>
                <a:latin typeface="Aptos"/>
              </a:rPr>
              <a:t>Prometheus + Grafana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713232"/>
            <a:ext cx="155448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722376"/>
            <a:ext cx="148132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DEVOPS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417320"/>
            <a:ext cx="69494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4F7FF"/>
                </a:solidFill>
                <a:latin typeface="Aptos"/>
              </a:rPr>
              <a:t>MediDesk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6675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9B6CC"/>
                </a:solidFill>
                <a:latin typeface="Aptos"/>
              </a:rPr>
              <a:t>From source code to a monitored Kubernetes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913632"/>
            <a:ext cx="822960" cy="54864"/>
          </a:xfrm>
          <a:prstGeom prst="rect">
            <a:avLst/>
          </a:prstGeom>
          <a:solidFill>
            <a:srgbClr val="4C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224528"/>
            <a:ext cx="6217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CDCDE"/>
                </a:solidFill>
                <a:latin typeface="Aptos"/>
              </a:rPr>
              <a:t>TECHNICAL PRESENTATION  •  ARCHITECTURE  •  DELIVERY  •  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925312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Project walkthrough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What MediDesk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A full delivery path: application code, repeatable infrastructure, deployment, and operational visibility.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2044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508760"/>
          </a:xfrm>
          <a:prstGeom prst="rect">
            <a:avLst/>
          </a:prstGeom>
          <a:solidFill>
            <a:srgbClr val="4C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01 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68879"/>
            <a:ext cx="313639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9B6CC"/>
                </a:solidFill>
                <a:latin typeface="Aptos"/>
              </a:rPr>
              <a:t>A frontend and API packaged as deployable application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50292" cy="1508760"/>
          </a:xfrm>
          <a:prstGeom prst="rect">
            <a:avLst/>
          </a:prstGeom>
          <a:solidFill>
            <a:srgbClr val="6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02 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68879"/>
            <a:ext cx="313639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9B6CC"/>
                </a:solidFill>
                <a:latin typeface="Aptos"/>
              </a:rPr>
              <a:t>Infrastructure provisioned with Terraform; workloads released to Kubernetes through Helm.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52044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50292" cy="1508760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03  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68879"/>
            <a:ext cx="313639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9B6CC"/>
                </a:solidFill>
                <a:latin typeface="Aptos"/>
              </a:rPr>
              <a:t>Prometheus scrapes application metrics and Grafana turns them into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77639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FF"/>
                </a:solidFill>
                <a:latin typeface="Aptos"/>
              </a:rPr>
              <a:t>Engineering 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34840"/>
            <a:ext cx="10607040" cy="13258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9B6CC"/>
                </a:solidFill>
                <a:latin typeface="Aptos"/>
              </a:defRPr>
            </a:pPr>
            <a:r>
              <a:t>•  Reproducibility — describe infrastructure and workloads as code.</a:t>
            </a:r>
          </a:p>
          <a:p>
            <a:pPr>
              <a:spcAft>
                <a:spcPts val="800"/>
              </a:spcAft>
              <a:defRPr sz="1500" b="0">
                <a:solidFill>
                  <a:srgbClr val="A9B6CC"/>
                </a:solidFill>
                <a:latin typeface="Aptos"/>
              </a:defRPr>
            </a:pPr>
            <a:r>
              <a:t>•  Automation — validate changes and build container images through CI.</a:t>
            </a:r>
          </a:p>
          <a:p>
            <a:pPr>
              <a:spcAft>
                <a:spcPts val="800"/>
              </a:spcAft>
              <a:defRPr sz="1500" b="0">
                <a:solidFill>
                  <a:srgbClr val="A9B6CC"/>
                </a:solidFill>
                <a:latin typeface="Aptos"/>
              </a:defRPr>
            </a:pPr>
            <a:r>
              <a:t>•  Operability — expose health endpoints, ingress access, and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02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The request path and the delivery/observability paths are separate but connected.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965960" cy="9144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12264"/>
            <a:ext cx="18196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User /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68880"/>
            <a:ext cx="1819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CDCDE"/>
                </a:solidFill>
                <a:latin typeface="Aptos"/>
              </a:rPr>
              <a:t>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965960"/>
            <a:ext cx="1965960" cy="9144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112264"/>
            <a:ext cx="18196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Ingress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468880"/>
            <a:ext cx="1819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9AFF"/>
                </a:solidFill>
                <a:latin typeface="Aptos"/>
              </a:rPr>
              <a:t>AWS load balancer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965960"/>
            <a:ext cx="1965960" cy="9144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112264"/>
            <a:ext cx="18196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468880"/>
            <a:ext cx="1819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CDCDE"/>
                </a:solidFill>
                <a:latin typeface="Aptos"/>
              </a:rPr>
              <a:t>React / Vite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965960"/>
            <a:ext cx="1965960" cy="9144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2112264"/>
            <a:ext cx="18196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Backend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468880"/>
            <a:ext cx="1819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9AFF"/>
                </a:solidFill>
                <a:latin typeface="Aptos"/>
              </a:rPr>
              <a:t>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965960"/>
            <a:ext cx="1645920" cy="9144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2112264"/>
            <a:ext cx="149961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468880"/>
            <a:ext cx="149961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E2A7"/>
                </a:solidFill>
                <a:latin typeface="Aptos"/>
              </a:rPr>
              <a:t>PostgreSQL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0" y="2423160"/>
            <a:ext cx="320040" cy="0"/>
          </a:xfrm>
          <a:prstGeom prst="line">
            <a:avLst/>
          </a:prstGeom>
          <a:ln w="2286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2423160"/>
            <a:ext cx="320040" cy="0"/>
          </a:xfrm>
          <a:prstGeom prst="line">
            <a:avLst/>
          </a:prstGeom>
          <a:ln w="2286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23760" y="2423160"/>
            <a:ext cx="320040" cy="0"/>
          </a:xfrm>
          <a:prstGeom prst="line">
            <a:avLst/>
          </a:prstGeom>
          <a:ln w="2286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09760" y="2423160"/>
            <a:ext cx="320040" cy="0"/>
          </a:xfrm>
          <a:prstGeom prst="line">
            <a:avLst/>
          </a:prstGeom>
          <a:ln w="2286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3703320"/>
            <a:ext cx="3383280" cy="14173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703320"/>
            <a:ext cx="50292" cy="1417320"/>
          </a:xfrm>
          <a:prstGeom prst="rect">
            <a:avLst/>
          </a:prstGeom>
          <a:solidFill>
            <a:srgbClr val="6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67911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Delivery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9768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GitHub Actions → tests/build/scans → container registry → Kubernetes release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703320"/>
            <a:ext cx="3383280" cy="14173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3703320"/>
            <a:ext cx="50292" cy="1417320"/>
          </a:xfrm>
          <a:prstGeom prst="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3867911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Infrastructure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429768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Terraform → AWS VPC / EKS and supporting cloud resources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3703320"/>
            <a:ext cx="3383280" cy="14173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1583" y="3703320"/>
            <a:ext cx="50292" cy="1417320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3867911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Observability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429768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Backend metrics → Prometheus → Grafana dashboards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559552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9B6CC"/>
                </a:solidFill>
                <a:latin typeface="Aptos"/>
              </a:rPr>
              <a:t>Validate the exact deployed state during the recording; architecture boxes describe the intended system, not proof by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03 / 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The stack and the job each tool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A compact view of the tools used across development, infrastructure, release, and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520440" cy="1572768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0292" cy="1572768"/>
          </a:xfrm>
          <a:prstGeom prst="rect">
            <a:avLst/>
          </a:prstGeom>
          <a:solidFill>
            <a:srgbClr val="4C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23160"/>
            <a:ext cx="313639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React + Vite frontend
FastAPI backend
PostgreSQL data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828800"/>
            <a:ext cx="3520440" cy="1572768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828800"/>
            <a:ext cx="50292" cy="1572768"/>
          </a:xfrm>
          <a:prstGeom prst="rect">
            <a:avLst/>
          </a:prstGeom>
          <a:solidFill>
            <a:srgbClr val="6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99339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Packaging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423160"/>
            <a:ext cx="313639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Docker images
Docker Compose for local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828800"/>
            <a:ext cx="3520440" cy="1572768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828800"/>
            <a:ext cx="50292" cy="1572768"/>
          </a:xfrm>
          <a:prstGeom prst="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99339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423160"/>
            <a:ext cx="313639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Terraform
AWS VPC + EKS
IAM / networking / node capacity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94760"/>
            <a:ext cx="3520440" cy="1572768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94760"/>
            <a:ext cx="50292" cy="1572768"/>
          </a:xfrm>
          <a:prstGeom prst="rect">
            <a:avLst/>
          </a:prstGeom>
          <a:solidFill>
            <a:srgbClr val="FF7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95935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389120"/>
            <a:ext cx="313639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Kubernetes
Helm chart and values
Ingress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794760"/>
            <a:ext cx="3520440" cy="1572768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3128" y="3794760"/>
            <a:ext cx="50292" cy="1572768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395935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389120"/>
            <a:ext cx="313639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Prometheus
ServiceMonitor
Grafana dashboards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47888" y="3794760"/>
            <a:ext cx="3520440" cy="1572768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794760"/>
            <a:ext cx="50292" cy="1572768"/>
          </a:xfrm>
          <a:prstGeom prst="rect">
            <a:avLst/>
          </a:prstGeom>
          <a:solidFill>
            <a:srgbClr val="4C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3959352"/>
            <a:ext cx="3136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4389120"/>
            <a:ext cx="313639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GitHub Actions
Tests, frontend build, image scanning/publishing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04 / CODEBASE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Where to look in the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Use this slide while showing the repository tree and opening one representative file per area.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2468880" cy="512064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DCDE"/>
                </a:solidFill>
                <a:latin typeface="Aptos"/>
              </a:rPr>
              <a:t>backend/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37943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API implementation, health endpoint, metrics endpoint, tests and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96312"/>
            <a:ext cx="2468880" cy="512064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78608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89AFF"/>
                </a:solidFill>
                <a:latin typeface="Aptos"/>
              </a:rPr>
              <a:t>frontend/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51176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React/Vite UI, package manifest, production build configuration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9544"/>
            <a:ext cx="2468880" cy="512064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91839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65C"/>
                </a:solidFill>
                <a:latin typeface="Aptos"/>
              </a:rPr>
              <a:t>terraform/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64408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AWS infrastructure definitions, variables and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922776"/>
            <a:ext cx="2468880" cy="512064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0507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7DA0"/>
                </a:solidFill>
                <a:latin typeface="Aptos"/>
              </a:rPr>
              <a:t>helm/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977639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Kubernetes templates and configurable application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636008"/>
            <a:ext cx="2468880" cy="512064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18304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8E2A7"/>
                </a:solidFill>
                <a:latin typeface="Aptos"/>
              </a:rPr>
              <a:t>.github/workflows/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90872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CI pipeline definition and automated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349240"/>
            <a:ext cx="2468880" cy="512064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431536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DCDE"/>
                </a:solidFill>
                <a:latin typeface="Aptos"/>
              </a:rPr>
              <a:t>demo/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04104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Presentation assets, evidence screenshots and walkthrough materials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6199632"/>
            <a:ext cx="10789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C65C"/>
                </a:solidFill>
                <a:latin typeface="Aptos"/>
              </a:rPr>
              <a:t>Confirm these paths match the current repository before recording; do not invent filenames while narrating.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05 / CONTINUOUS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A code change becomes a validated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The workflow file is the source of truth; show a real successful run in GitHub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1993392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" y="2331720"/>
            <a:ext cx="50292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340863"/>
            <a:ext cx="42976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88920"/>
            <a:ext cx="1691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227832"/>
            <a:ext cx="1682496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6CC"/>
                </a:solidFill>
                <a:latin typeface="Aptos"/>
              </a:rPr>
              <a:t>Commit reaches GitHub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017520"/>
            <a:ext cx="246888" cy="0"/>
          </a:xfrm>
          <a:prstGeom prst="line">
            <a:avLst/>
          </a:prstGeom>
          <a:ln w="20320">
            <a:solidFill>
              <a:srgbClr val="4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62656" y="2148840"/>
            <a:ext cx="1993392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18104" y="2331720"/>
            <a:ext cx="50292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340863"/>
            <a:ext cx="42976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89A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2788920"/>
            <a:ext cx="1691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27832"/>
            <a:ext cx="1682496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6CC"/>
                </a:solidFill>
                <a:latin typeface="Aptos"/>
              </a:rPr>
              <a:t>Backend pytest + frontend build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74336" y="3017520"/>
            <a:ext cx="246888" cy="0"/>
          </a:xfrm>
          <a:prstGeom prst="line">
            <a:avLst/>
          </a:prstGeom>
          <a:ln w="2032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66944" y="2148840"/>
            <a:ext cx="1993392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22392" y="2331720"/>
            <a:ext cx="50292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2340863"/>
            <a:ext cx="42976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65C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788920"/>
            <a:ext cx="1691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3227832"/>
            <a:ext cx="1682496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6CC"/>
                </a:solidFill>
                <a:latin typeface="Aptos"/>
              </a:rPr>
              <a:t>Trivy checks for HIGH / CRITICAL findings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78624" y="3017520"/>
            <a:ext cx="246888" cy="0"/>
          </a:xfrm>
          <a:prstGeom prst="line">
            <a:avLst/>
          </a:prstGeom>
          <a:ln w="20320">
            <a:solidFill>
              <a:srgbClr val="FF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71232" y="2148840"/>
            <a:ext cx="1993392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26680" y="2331720"/>
            <a:ext cx="50292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6" y="2340863"/>
            <a:ext cx="42976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8E2A7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788920"/>
            <a:ext cx="1691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227832"/>
            <a:ext cx="1682496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6CC"/>
                </a:solidFill>
                <a:latin typeface="Aptos"/>
              </a:rPr>
              <a:t>Docker images tagged with commit SHA to GHCR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2" y="3017520"/>
            <a:ext cx="246888" cy="0"/>
          </a:xfrm>
          <a:prstGeom prst="line">
            <a:avLst/>
          </a:prstGeom>
          <a:ln w="20320">
            <a:solidFill>
              <a:srgbClr val="68E2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75520" y="2148840"/>
            <a:ext cx="1993392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30968" y="2331720"/>
            <a:ext cx="50292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7544" y="2340863"/>
            <a:ext cx="42976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DA0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2788920"/>
            <a:ext cx="1691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3227832"/>
            <a:ext cx="1682496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6CC"/>
                </a:solidFill>
                <a:latin typeface="Aptos"/>
              </a:rPr>
              <a:t>EKS deployment is conditional on configured enablement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572000"/>
            <a:ext cx="10744200" cy="960120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754880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CDCDE"/>
                </a:solidFill>
                <a:latin typeface="Aptos"/>
              </a:rPr>
              <a:t>Recording 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93208"/>
            <a:ext cx="10195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F"/>
                </a:solidFill>
                <a:latin typeface="Aptos"/>
              </a:rPr>
              <a:t>Trigger a small, safe commit → open the run → show each job and the final green result. Never narrate a pipeline as successful unless the run confirms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06 / 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Terraform makes the cloud setup reviewable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Show plan output and the AWS Console; redact account-specific or sensitive values if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1508760"/>
          </a:xfrm>
          <a:prstGeom prst="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Plan before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23160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terraform fmt -check
terraform validate
terraform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2900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50292" cy="1508760"/>
          </a:xfrm>
          <a:prstGeom prst="rect">
            <a:avLst/>
          </a:prstGeom>
          <a:solidFill>
            <a:srgbClr val="6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Cloud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VPC and networking
EKS control plane
Worker nodes and IAM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828800"/>
            <a:ext cx="342900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828800"/>
            <a:ext cx="50292" cy="1508760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423160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Version-controlled infrastructure
Repeatable review
Reduced manual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977639"/>
            <a:ext cx="10716768" cy="132588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87952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Live walkthrough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10149840" cy="658368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9B6CC"/>
                </a:solidFill>
                <a:latin typeface="Aptos"/>
              </a:defRPr>
            </a:pPr>
            <a:r>
              <a:t>•  Run terraform plan and show whether changes are pending.</a:t>
            </a:r>
          </a:p>
          <a:p>
            <a:pPr>
              <a:spcAft>
                <a:spcPts val="800"/>
              </a:spcAft>
              <a:defRPr sz="1200" b="0">
                <a:solidFill>
                  <a:srgbClr val="A9B6CC"/>
                </a:solidFill>
                <a:latin typeface="Aptos"/>
              </a:defRPr>
            </a:pPr>
            <a:r>
              <a:t>•  Open AWS Console and point out the VPC and EKS cluster.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65C"/>
                </a:solidFill>
                <a:latin typeface="Aptos"/>
              </a:rPr>
              <a:t>Do not run terraform apply or destroy during the recording unless a change is intentional, reviewed, and approved.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07 /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Argo CD: the required proof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GitOps means the desired state in Git is reconciled with the running cluster.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338328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74519"/>
            <a:ext cx="50292" cy="1508760"/>
          </a:xfrm>
          <a:prstGeom prst="rect">
            <a:avLst/>
          </a:prstGeom>
          <a:solidFill>
            <a:srgbClr val="4C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Desired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79"/>
            <a:ext cx="299923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Manifests / Helm configuration in the 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74519"/>
            <a:ext cx="338328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874519"/>
            <a:ext cx="50292" cy="1508760"/>
          </a:xfrm>
          <a:prstGeom prst="rect">
            <a:avLst/>
          </a:prstGeom>
          <a:solidFill>
            <a:srgbClr val="6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3911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Argo 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79"/>
            <a:ext cx="299923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Watches the source and compares desired vs live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74519"/>
            <a:ext cx="3383280" cy="15087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874519"/>
            <a:ext cx="50292" cy="1508760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03911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Cluster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468879"/>
            <a:ext cx="299923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Application health and sync status reflect the deployed resources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6512" y="2606040"/>
            <a:ext cx="292608" cy="0"/>
          </a:xfrm>
          <a:prstGeom prst="line">
            <a:avLst/>
          </a:prstGeom>
          <a:ln w="2032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0688" y="2606040"/>
            <a:ext cx="292608" cy="0"/>
          </a:xfrm>
          <a:prstGeom prst="line">
            <a:avLst/>
          </a:prstGeom>
          <a:ln w="2032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" y="3977639"/>
            <a:ext cx="10716768" cy="1234440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178808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65C"/>
                </a:solidFill>
                <a:latin typeface="Aptos"/>
              </a:rPr>
              <a:t>Required on-screen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590288"/>
            <a:ext cx="10104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F"/>
                </a:solidFill>
                <a:latin typeface="Aptos"/>
              </a:rPr>
              <a:t>Open the Argo CD application and show Synced + Healthy. If Argo CD is not installed/configured yet, treat this as an outstanding requirement—not a completed feature.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DA0"/>
                </a:solidFill>
                <a:latin typeface="Aptos"/>
              </a:rPr>
              <a:t>Do not claim GitOps reconciliation unless the live application page proves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08 /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Kubernetes health and traffic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Show actual cluster output, then follow the request through the ingress endpoint.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74920" cy="9601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CDCDE"/>
                </a:solidFill>
                <a:latin typeface="Aptos"/>
              </a:rPr>
              <a:t>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77439"/>
            <a:ext cx="464515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F"/>
                </a:solidFill>
                <a:latin typeface="Consolas"/>
              </a:rPr>
              <a:t>kubectl get pods -n medidesk -o wide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074920" cy="9601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020824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CDCDE"/>
                </a:solidFill>
                <a:latin typeface="Aptos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77439"/>
            <a:ext cx="464515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F"/>
                </a:solidFill>
                <a:latin typeface="Consolas"/>
              </a:rPr>
              <a:t>kubectl get svc -n medidesk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72968"/>
            <a:ext cx="5074920" cy="9601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19272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CDCDE"/>
                </a:solidFill>
                <a:latin typeface="Aptos"/>
              </a:rPr>
              <a:t>Ingress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464515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F"/>
                </a:solidFill>
                <a:latin typeface="Consolas"/>
              </a:rPr>
              <a:t>kubectl get ingress -n medidesk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72968"/>
            <a:ext cx="5074920" cy="96012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319272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CDCDE"/>
                </a:solidFill>
                <a:latin typeface="Aptos"/>
              </a:rPr>
              <a:t>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675887"/>
            <a:ext cx="464515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F"/>
                </a:solidFill>
                <a:latin typeface="Consolas"/>
              </a:rPr>
              <a:t>helm list -n medidesk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754880"/>
            <a:ext cx="10716768" cy="822960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28616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8E2A7"/>
                </a:solidFill>
                <a:latin typeface="Aptos"/>
              </a:rPr>
              <a:t>Health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10104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F"/>
                </a:solidFill>
                <a:latin typeface="Aptos"/>
              </a:rPr>
              <a:t>Show all expected pods Ready/Running and verify the application health endpoint returns HTTP 200.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9B6CC"/>
                </a:solidFill>
                <a:latin typeface="Aptos"/>
              </a:rPr>
              <a:t>Use the correct namespace and current output; the slide is a guide, not a substitute for live proof.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09 /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Metrics become operational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Prove that the app is being scraped, then show a dashboard using real time-series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83280" cy="146304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0292" cy="1463040"/>
          </a:xfrm>
          <a:prstGeom prst="rect">
            <a:avLst/>
          </a:prstGeom>
          <a:solidFill>
            <a:srgbClr val="4C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Instrument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29992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Backend exposes /api/metrics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920240"/>
            <a:ext cx="3383280" cy="146304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50292" cy="1463040"/>
          </a:xfrm>
          <a:prstGeom prst="rect">
            <a:avLst/>
          </a:prstGeom>
          <a:solidFill>
            <a:srgbClr val="6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8483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514600"/>
            <a:ext cx="29992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Prometheus target status is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920240"/>
            <a:ext cx="3383280" cy="146304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920240"/>
            <a:ext cx="50292" cy="1463040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08483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514600"/>
            <a:ext cx="29992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Grafana panels query Prometheus metrics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2651760"/>
            <a:ext cx="274320" cy="0"/>
          </a:xfrm>
          <a:prstGeom prst="line">
            <a:avLst/>
          </a:prstGeom>
          <a:ln w="2032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0688" y="2651760"/>
            <a:ext cx="274320" cy="0"/>
          </a:xfrm>
          <a:prstGeom prst="line">
            <a:avLst/>
          </a:prstGeom>
          <a:ln w="20320">
            <a:solidFill>
              <a:srgbClr val="689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" y="3931920"/>
            <a:ext cx="5193792" cy="12801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33087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Prometheus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26280"/>
            <a:ext cx="4663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CDCDE"/>
                </a:solidFill>
                <a:latin typeface="Aptos"/>
              </a:rPr>
              <a:t>Targets page → backend target → State: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31920"/>
            <a:ext cx="5230368" cy="128016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4133087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Aptos"/>
              </a:rPr>
              <a:t>Grafana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526280"/>
            <a:ext cx="4754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E2A7"/>
                </a:solidFill>
                <a:latin typeface="Aptos"/>
              </a:rPr>
              <a:t>Open dashboard → set recent time range → show populated panels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15000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65C"/>
                </a:solidFill>
                <a:latin typeface="Aptos"/>
              </a:rPr>
              <a:t>Use a live dashboard with non-empty data. A blank panel is not proof of observability.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CDCDE"/>
                </a:solidFill>
                <a:latin typeface="Aptos"/>
              </a:rPr>
              <a:t>10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F"/>
                </a:solidFill>
                <a:latin typeface="Aptos"/>
              </a:rPr>
              <a:t>What to demonstrate—and what not to fake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A strong submission distinguishes implementation evidence from planned or unverified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1018520" cy="13716"/>
          </a:xfrm>
          <a:prstGeom prst="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9B6CC"/>
                </a:solidFill>
                <a:latin typeface="Aptos"/>
              </a:rPr>
              <a:t>MEDIDESK  /  TECHNICAL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0292" cy="1828800"/>
          </a:xfrm>
          <a:prstGeom prst="rect">
            <a:avLst/>
          </a:prstGeom>
          <a:solidFill>
            <a:srgbClr val="68E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4828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Confirmed in the current project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482803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• EKS cluster and worker nodes
• Helm release and healthy app endpoints
• Prometheus target UP
• Grafana installed and enabled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1828800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0292" cy="1828800"/>
          </a:xfrm>
          <a:prstGeom prst="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828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F"/>
                </a:solidFill>
                <a:latin typeface="Aptos"/>
              </a:rPr>
              <a:t>Must be verified live before recording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23160"/>
            <a:ext cx="482803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6CC"/>
                </a:solidFill>
                <a:latin typeface="Aptos"/>
              </a:rPr>
              <a:t>• End-to-end CI run after a fresh push
• Terraform plan output and AWS Console
• Argo CD application showing Synced + Healthy
• Grafana panels populated with current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51960"/>
            <a:ext cx="10716768" cy="1005840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48056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CDCDE"/>
                </a:solidFill>
                <a:latin typeface="Aptos"/>
              </a:rPr>
              <a:t>Security hygiene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873752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F"/>
                </a:solidFill>
                <a:latin typeface="Aptos"/>
              </a:rPr>
              <a:t>Avoid exposing tokens, passwords, kubeconfig contents, private keys, or unnecessary account identifiers in the recording.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DA0"/>
                </a:solidFill>
                <a:latin typeface="Aptos"/>
              </a:rPr>
              <a:t>If any required component is missing, fix it or clearly disclose it before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749808"/>
            <a:ext cx="1508760" cy="310896"/>
          </a:xfrm>
          <a:prstGeom prst="roundRect">
            <a:avLst/>
          </a:prstGeom>
          <a:solidFill>
            <a:srgbClr val="1D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758952"/>
            <a:ext cx="1435607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8E2A7"/>
                </a:solidFill>
                <a:latin typeface="Apto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89888"/>
            <a:ext cx="9966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4F7FF"/>
                </a:solidFill>
                <a:latin typeface="Aptos"/>
              </a:rPr>
              <a:t>MediDesk is more than an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9966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A9B6CC"/>
                </a:solidFill>
                <a:latin typeface="Aptos"/>
              </a:rPr>
              <a:t>It is a delivery path with infrastructure, deployment, and operational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49039"/>
            <a:ext cx="3337560" cy="1078992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5C"/>
                </a:solidFill>
                <a:latin typeface="Aptos"/>
              </a:rPr>
              <a:t>Repeatable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Terraform + Helm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3749039"/>
            <a:ext cx="3337560" cy="1078992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395020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89AFF"/>
                </a:solidFill>
                <a:latin typeface="Aptos"/>
              </a:rPr>
              <a:t>Automated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4343400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GitHub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3749039"/>
            <a:ext cx="3337560" cy="1078992"/>
          </a:xfrm>
          <a:prstGeom prst="roundRect">
            <a:avLst/>
          </a:prstGeom>
          <a:solidFill>
            <a:srgbClr val="17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395020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8E2A7"/>
                </a:solidFill>
                <a:latin typeface="Aptos"/>
              </a:rPr>
              <a:t>Observable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4343400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6CC"/>
                </a:solidFill>
                <a:latin typeface="Aptos"/>
              </a:rPr>
              <a:t>Prometheus +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CDCDE"/>
                </a:solidFill>
                <a:latin typeface="Aptos"/>
              </a:rPr>
              <a:t>The live walkthrough supplies the evidence; the slides explain the system and engineering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CDCD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